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Open Sauce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900" y="3502139"/>
            <a:ext cx="16456199" cy="243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10000" b="true">
                <a:solidFill>
                  <a:srgbClr val="3784F5"/>
                </a:solidFill>
                <a:latin typeface="Poppins Bold"/>
                <a:ea typeface="Poppins Bold"/>
                <a:cs typeface="Poppins Bold"/>
                <a:sym typeface="Poppins Bold"/>
              </a:rPr>
              <a:t>Re</a:t>
            </a:r>
            <a:r>
              <a:rPr lang="en-US" sz="10000" b="true">
                <a:solidFill>
                  <a:srgbClr val="3784F5"/>
                </a:solidFill>
                <a:latin typeface="Poppins Bold"/>
                <a:ea typeface="Poppins Bold"/>
                <a:cs typeface="Poppins Bold"/>
                <a:sym typeface="Poppins Bold"/>
              </a:rPr>
              <a:t>tail Sales Performance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061189"/>
            <a:ext cx="8881386" cy="4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b="true" sz="2341" spc="208">
                <a:solidFill>
                  <a:srgbClr val="3B80F2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Penjualan Tahunan dengan Power 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62025"/>
            <a:ext cx="7942980" cy="4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sz="234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868754"/>
            <a:ext cx="7325430" cy="38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159" spc="1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Najma Khonsa Tsabita 1232002090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0581" y="2574546"/>
            <a:ext cx="1543050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Analisis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11638"/>
            <a:ext cx="10347871" cy="257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Mengetahui performa penjualan per bulan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Mengukur profit dan efisiensi biaya (COGS)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Melihat kategori produk paling laku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Mengetahui distribusi customer berdasarkan gender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Memberikan rekomendasi untuk strategi bisnis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8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7577" y="212220"/>
            <a:ext cx="16716202" cy="9862559"/>
          </a:xfrm>
          <a:custGeom>
            <a:avLst/>
            <a:gdLst/>
            <a:ahLst/>
            <a:cxnLst/>
            <a:rect r="r" b="b" t="t" l="l"/>
            <a:pathLst>
              <a:path h="9862559" w="16716202">
                <a:moveTo>
                  <a:pt x="0" y="0"/>
                </a:moveTo>
                <a:lnTo>
                  <a:pt x="16716202" y="0"/>
                </a:lnTo>
                <a:lnTo>
                  <a:pt x="16716202" y="9862560"/>
                </a:lnTo>
                <a:lnTo>
                  <a:pt x="0" y="9862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4996" y="3004166"/>
            <a:ext cx="9835950" cy="5027609"/>
          </a:xfrm>
          <a:custGeom>
            <a:avLst/>
            <a:gdLst/>
            <a:ahLst/>
            <a:cxnLst/>
            <a:rect r="r" b="b" t="t" l="l"/>
            <a:pathLst>
              <a:path h="5027609" w="9835950">
                <a:moveTo>
                  <a:pt x="0" y="0"/>
                </a:moveTo>
                <a:lnTo>
                  <a:pt x="9835950" y="0"/>
                </a:lnTo>
                <a:lnTo>
                  <a:pt x="9835950" y="5027609"/>
                </a:lnTo>
                <a:lnTo>
                  <a:pt x="0" y="5027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1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651701" y="1746462"/>
            <a:ext cx="10686173" cy="89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0"/>
              </a:lnSpc>
              <a:spcBef>
                <a:spcPct val="0"/>
              </a:spcBef>
            </a:pPr>
            <a:r>
              <a:rPr lang="en-US" b="true" sz="49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Sales vs Profit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64913" y="3286665"/>
            <a:ext cx="6698866" cy="160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Bulan Mei dan Oktober adalah bulan paling tinggi penjualannya (53K dan 47K).</a:t>
            </a:r>
          </a:p>
          <a:p>
            <a:pPr algn="just" marL="491144" indent="-245572" lvl="1">
              <a:lnSpc>
                <a:spcPts val="3184"/>
              </a:lnSpc>
              <a:spcBef>
                <a:spcPct val="0"/>
              </a:spcBef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Penjualan terendah terlihat di sekitar Juli dan September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2097" y="5451296"/>
            <a:ext cx="6564499" cy="240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Momentum tertinggi muncul dua kali dalam setahun, berpotensi dimanfaatkan untuk strategi kampanye lanjutan.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Bulan-bulan dengan penurunan bisa menjadi fokus evaluasi untuk pricing, stok, dan promosi.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0466" y="3458860"/>
            <a:ext cx="6853164" cy="5285607"/>
          </a:xfrm>
          <a:custGeom>
            <a:avLst/>
            <a:gdLst/>
            <a:ahLst/>
            <a:cxnLst/>
            <a:rect r="r" b="b" t="t" l="l"/>
            <a:pathLst>
              <a:path h="5285607" w="6853164">
                <a:moveTo>
                  <a:pt x="0" y="0"/>
                </a:moveTo>
                <a:lnTo>
                  <a:pt x="6853164" y="0"/>
                </a:lnTo>
                <a:lnTo>
                  <a:pt x="6853164" y="5285607"/>
                </a:lnTo>
                <a:lnTo>
                  <a:pt x="0" y="5285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04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4227" y="1200877"/>
            <a:ext cx="10686173" cy="177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498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Sales by </a:t>
            </a:r>
          </a:p>
          <a:p>
            <a:pPr algn="l" marL="0" indent="0" lvl="0">
              <a:lnSpc>
                <a:spcPts val="6980"/>
              </a:lnSpc>
              <a:spcBef>
                <a:spcPct val="0"/>
              </a:spcBef>
            </a:pPr>
            <a:r>
              <a:rPr lang="en-US" b="true" sz="49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Category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4711" y="3392185"/>
            <a:ext cx="13110695" cy="201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Electronics — paling tinggi</a:t>
            </a: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Clothing — posisi kedua</a:t>
            </a: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Beauty — paling rendah</a:t>
            </a:r>
          </a:p>
          <a:p>
            <a:pPr algn="l">
              <a:lnSpc>
                <a:spcPts val="318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314711" y="5635887"/>
            <a:ext cx="7921758" cy="24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Electronics adalah backbone penjualan yang perlu dipertahankan.</a:t>
            </a: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Clothing cukup stabil dan dapat diperkuat melalui campaign spesifik.</a:t>
            </a: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Beauty memiliki potensi pertumbuhan, khususnya dengan strategi bundling atau diskon targeted.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96944"/>
            <a:ext cx="8747626" cy="6761356"/>
          </a:xfrm>
          <a:custGeom>
            <a:avLst/>
            <a:gdLst/>
            <a:ahLst/>
            <a:cxnLst/>
            <a:rect r="r" b="b" t="t" l="l"/>
            <a:pathLst>
              <a:path h="6761356" w="8747626">
                <a:moveTo>
                  <a:pt x="0" y="0"/>
                </a:moveTo>
                <a:lnTo>
                  <a:pt x="8747626" y="0"/>
                </a:lnTo>
                <a:lnTo>
                  <a:pt x="8747626" y="6761356"/>
                </a:lnTo>
                <a:lnTo>
                  <a:pt x="0" y="676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68" t="-10879" r="-1546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8757" y="1154457"/>
            <a:ext cx="8713307" cy="7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4"/>
              </a:lnSpc>
              <a:spcBef>
                <a:spcPct val="0"/>
              </a:spcBef>
            </a:pPr>
            <a:r>
              <a:rPr lang="en-US" b="true" sz="4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Sales Distribution by Gender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82064" y="3539204"/>
            <a:ext cx="7851258" cy="121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Laki-laki dan perempuan seimbang (51% vs 49%).</a:t>
            </a: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Artinya target audience broad, ga berat sebelah.</a:t>
            </a:r>
          </a:p>
          <a:p>
            <a:pPr algn="l">
              <a:lnSpc>
                <a:spcPts val="318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82064" y="5076825"/>
            <a:ext cx="7648403" cy="240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</a:t>
            </a: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ategi marketing bisa dibuat netral atau segmented dua versi—dua-duanya punya market yang sama-sama besar.</a:t>
            </a:r>
          </a:p>
          <a:p>
            <a:pPr algn="l" marL="491144" indent="-245572" lvl="1">
              <a:lnSpc>
                <a:spcPts val="3184"/>
              </a:lnSpc>
              <a:buFont typeface="Arial"/>
              <a:buChar char="•"/>
            </a:pPr>
            <a:r>
              <a:rPr lang="en-US" sz="22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Peluang segmentasi masih besar jika ingin mengoptimalkan kategori tertentu (contoh: Beauty female, Electronics male).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211638"/>
            <a:ext cx="17259300" cy="257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 penj</a:t>
            </a: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ualan berada dalam kondisi baik dan stabil.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Electronics menjadi kategori paling berkontribusi terhadap sales, sementara Beauty masih minim kontribusi.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Pola pembelian menunjukkan musim puncak pada Mei dan Oktober.</a:t>
            </a:r>
          </a:p>
          <a:p>
            <a:pPr algn="l" marL="626452" indent="-313226" lvl="1">
              <a:lnSpc>
                <a:spcPts val="4062"/>
              </a:lnSpc>
              <a:buAutoNum type="arabicPeriod" startAt="1"/>
            </a:pPr>
            <a:r>
              <a:rPr lang="en-US" sz="29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 gender sangat balanced sehingga strategi pemasaran fleksibel.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0581" y="2574546"/>
            <a:ext cx="1543050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 Conclusion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19314"/>
            <a:ext cx="16435079" cy="586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23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Optimalkan Moment</a:t>
            </a:r>
            <a:r>
              <a:rPr lang="en-US" b="true" sz="22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um Puncak</a:t>
            </a:r>
          </a:p>
          <a:p>
            <a:pPr algn="l">
              <a:lnSpc>
                <a:spcPts val="3127"/>
              </a:lnSpc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Manfaatkan bulan Mei dan Oktober untuk kampanye intensif karena demand paling tinggi.</a:t>
            </a:r>
          </a:p>
          <a:p>
            <a:pPr algn="l">
              <a:lnSpc>
                <a:spcPts val="3127"/>
              </a:lnSpc>
            </a:pPr>
          </a:p>
          <a:p>
            <a:pPr algn="l">
              <a:lnSpc>
                <a:spcPts val="3127"/>
              </a:lnSpc>
            </a:pPr>
            <a:r>
              <a:rPr lang="en-US" b="true" sz="22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Perbaiki Performa Bulan Rendah</a:t>
            </a:r>
          </a:p>
          <a:p>
            <a:pPr algn="l">
              <a:lnSpc>
                <a:spcPts val="3127"/>
              </a:lnSpc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Evaluasi pricing, stok, dan promosi untuk bulan Juli &amp; September untuk mengurangi gap penjualan.</a:t>
            </a:r>
          </a:p>
          <a:p>
            <a:pPr algn="l">
              <a:lnSpc>
                <a:spcPts val="3127"/>
              </a:lnSpc>
            </a:pPr>
          </a:p>
          <a:p>
            <a:pPr algn="l">
              <a:lnSpc>
                <a:spcPts val="3127"/>
              </a:lnSpc>
            </a:pPr>
            <a:r>
              <a:rPr lang="en-US" b="true" sz="22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Fokus pada Kategori Beauty</a:t>
            </a:r>
          </a:p>
          <a:p>
            <a:pPr algn="l">
              <a:lnSpc>
                <a:spcPts val="3127"/>
              </a:lnSpc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Meningkatkan awareness lewat:</a:t>
            </a:r>
          </a:p>
          <a:p>
            <a:pPr algn="l" marL="482355" indent="-241178" lvl="1">
              <a:lnSpc>
                <a:spcPts val="3127"/>
              </a:lnSpc>
              <a:buAutoNum type="arabicPeriod" startAt="1"/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bundling</a:t>
            </a:r>
          </a:p>
          <a:p>
            <a:pPr algn="l" marL="482355" indent="-241178" lvl="1">
              <a:lnSpc>
                <a:spcPts val="3127"/>
              </a:lnSpc>
              <a:buAutoNum type="arabicPeriod" startAt="1"/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diskon spesifik</a:t>
            </a:r>
          </a:p>
          <a:p>
            <a:pPr algn="l" marL="482355" indent="-241178" lvl="1">
              <a:lnSpc>
                <a:spcPts val="3127"/>
              </a:lnSpc>
              <a:buAutoNum type="arabicPeriod" startAt="1"/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targeted ads</a:t>
            </a:r>
          </a:p>
          <a:p>
            <a:pPr algn="l">
              <a:lnSpc>
                <a:spcPts val="3127"/>
              </a:lnSpc>
            </a:pPr>
          </a:p>
          <a:p>
            <a:pPr algn="l">
              <a:lnSpc>
                <a:spcPts val="3127"/>
              </a:lnSpc>
            </a:pPr>
            <a:r>
              <a:rPr lang="en-US" b="true" sz="22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Segmentasi Pelanggan Lebih Dalam</a:t>
            </a:r>
          </a:p>
          <a:p>
            <a:pPr algn="l">
              <a:lnSpc>
                <a:spcPts val="3127"/>
              </a:lnSpc>
            </a:pP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2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elompokkan pelanggan berdasarkan pola belanja mereka (bukan cuma gender), lalu sesuaikan strategi promosinya biar lebih akurat.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34202"/>
            <a:ext cx="1543050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900" y="4616564"/>
            <a:ext cx="16456199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10000" b="true">
                <a:solidFill>
                  <a:srgbClr val="3784F5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7942980" cy="4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sz="234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68754"/>
            <a:ext cx="7325430" cy="38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159" spc="1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Najma Khonsa Tsabita 1232002090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DAG5mS0lIW0</dc:identifier>
  <dcterms:modified xsi:type="dcterms:W3CDTF">2011-08-01T06:04:30Z</dcterms:modified>
  <cp:revision>1</cp:revision>
  <dc:title>Task 8 BI</dc:title>
</cp:coreProperties>
</file>