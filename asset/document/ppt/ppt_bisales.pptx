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 Bold" charset="1" panose="00000800000000000000"/>
      <p:regular r:id="rId13"/>
    </p:embeddedFont>
    <p:embeddedFont>
      <p:font typeface="Poppins" charset="1" panose="00000500000000000000"/>
      <p:regular r:id="rId14"/>
    </p:embeddedFont>
    <p:embeddedFont>
      <p:font typeface="Open Sauce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900" y="3020592"/>
            <a:ext cx="16456199" cy="354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10000" b="true">
                <a:gradFill>
                  <a:gsLst>
                    <a:gs pos="0">
                      <a:srgbClr val="FFF46D">
                        <a:alpha val="100000"/>
                      </a:srgbClr>
                    </a:gs>
                    <a:gs pos="100000">
                      <a:srgbClr val="2D98E6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Sales Performance Dashboard with Drilling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62025"/>
            <a:ext cx="7942980" cy="41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  <a:spcBef>
                <a:spcPct val="0"/>
              </a:spcBef>
            </a:pPr>
            <a:r>
              <a:rPr lang="en-US" sz="2341" spc="2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Business Intelligence Task 9 Drilling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868754"/>
            <a:ext cx="7325430" cy="38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  <a:spcBef>
                <a:spcPct val="0"/>
              </a:spcBef>
            </a:pPr>
            <a:r>
              <a:rPr lang="en-US" sz="2159" spc="1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Najma Khonsa Tsabita 1232002090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222153"/>
            <a:ext cx="5675445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Metodelogi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463779" y="936398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34544" y="1265517"/>
            <a:ext cx="10293393" cy="222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sz="20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Pada implementasi ini, digunakan dataset Grocery Sales Database dengan hierarki:</a:t>
            </a:r>
          </a:p>
          <a:p>
            <a:pPr algn="l" marL="448809" indent="-224404" lvl="1">
              <a:lnSpc>
                <a:spcPts val="2910"/>
              </a:lnSpc>
              <a:buFont typeface="Arial"/>
              <a:buChar char="•"/>
            </a:pPr>
            <a:r>
              <a:rPr lang="en-US" sz="20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Category → Class → Product</a:t>
            </a:r>
          </a:p>
          <a:p>
            <a:pPr algn="l" marL="448809" indent="-224404" lvl="1">
              <a:lnSpc>
                <a:spcPts val="2910"/>
              </a:lnSpc>
              <a:buFont typeface="Arial"/>
              <a:buChar char="•"/>
            </a:pPr>
            <a:r>
              <a:rPr lang="en-US" sz="20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Country → City → ZipCode</a:t>
            </a:r>
          </a:p>
          <a:p>
            <a:pPr algn="l" marL="448809" indent="-224404" lvl="1">
              <a:lnSpc>
                <a:spcPts val="2910"/>
              </a:lnSpc>
              <a:buFont typeface="Arial"/>
              <a:buChar char="•"/>
            </a:pPr>
            <a:r>
              <a:rPr lang="en-US" sz="20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Year → Month → Date</a:t>
            </a:r>
          </a:p>
          <a:p>
            <a:pPr algn="l">
              <a:lnSpc>
                <a:spcPts val="291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334544" y="3814214"/>
            <a:ext cx="8697394" cy="5140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9"/>
              </a:lnSpc>
            </a:pPr>
            <a:r>
              <a:rPr lang="en-US" sz="20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Pembuatan Dashboard </a:t>
            </a:r>
          </a:p>
          <a:p>
            <a:pPr algn="l">
              <a:lnSpc>
                <a:spcPts val="2909"/>
              </a:lnSpc>
            </a:pPr>
            <a:r>
              <a:rPr lang="en-US" sz="20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Dashboard dibuat dengan fokus pada fitur drilling:</a:t>
            </a:r>
          </a:p>
          <a:p>
            <a:pPr algn="l" marL="448670" indent="-224335" lvl="1">
              <a:lnSpc>
                <a:spcPts val="2909"/>
              </a:lnSpc>
              <a:buFont typeface="Arial"/>
              <a:buChar char="•"/>
            </a:pPr>
            <a:r>
              <a:rPr lang="en-US" sz="20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Drill Down</a:t>
            </a:r>
          </a:p>
          <a:p>
            <a:pPr algn="l" marL="448670" indent="-224335" lvl="1">
              <a:lnSpc>
                <a:spcPts val="2909"/>
              </a:lnSpc>
              <a:buFont typeface="Arial"/>
              <a:buChar char="•"/>
            </a:pPr>
            <a:r>
              <a:rPr lang="en-US" sz="20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Drill Up</a:t>
            </a:r>
          </a:p>
          <a:p>
            <a:pPr algn="l" marL="448670" indent="-224335" lvl="1">
              <a:lnSpc>
                <a:spcPts val="2909"/>
              </a:lnSpc>
              <a:buFont typeface="Arial"/>
              <a:buChar char="•"/>
            </a:pPr>
            <a:r>
              <a:rPr lang="en-US" sz="20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Drill Through</a:t>
            </a:r>
          </a:p>
          <a:p>
            <a:pPr algn="l" marL="448670" indent="-224335" lvl="1">
              <a:lnSpc>
                <a:spcPts val="2909"/>
              </a:lnSpc>
              <a:buFont typeface="Arial"/>
              <a:buChar char="•"/>
            </a:pPr>
            <a:r>
              <a:rPr lang="en-US" sz="20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Visual hierarchy</a:t>
            </a:r>
          </a:p>
          <a:p>
            <a:pPr algn="l" marL="448670" indent="-224335" lvl="1">
              <a:lnSpc>
                <a:spcPts val="2909"/>
              </a:lnSpc>
              <a:buFont typeface="Arial"/>
              <a:buChar char="•"/>
            </a:pPr>
            <a:r>
              <a:rPr lang="en-US" sz="20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Interactive filters &amp; slicers</a:t>
            </a:r>
          </a:p>
          <a:p>
            <a:pPr algn="l">
              <a:lnSpc>
                <a:spcPts val="2909"/>
              </a:lnSpc>
            </a:pPr>
          </a:p>
          <a:p>
            <a:pPr algn="l">
              <a:lnSpc>
                <a:spcPts val="2909"/>
              </a:lnSpc>
            </a:pPr>
            <a:r>
              <a:rPr lang="en-US" sz="20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Visual utama yang digunakan:</a:t>
            </a:r>
          </a:p>
          <a:p>
            <a:pPr algn="l" marL="448670" indent="-224335" lvl="1">
              <a:lnSpc>
                <a:spcPts val="2909"/>
              </a:lnSpc>
              <a:buFont typeface="Arial"/>
              <a:buChar char="•"/>
            </a:pPr>
            <a:r>
              <a:rPr lang="en-US" sz="20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KPI Cards → Total Sales, Total Quantity, Total Orders</a:t>
            </a:r>
          </a:p>
          <a:p>
            <a:pPr algn="l" marL="448670" indent="-224335" lvl="1">
              <a:lnSpc>
                <a:spcPts val="2909"/>
              </a:lnSpc>
              <a:buFont typeface="Arial"/>
              <a:buChar char="•"/>
            </a:pPr>
            <a:r>
              <a:rPr lang="en-US" sz="20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Bar Chart → Sales by Category (3-level drill)</a:t>
            </a:r>
          </a:p>
          <a:p>
            <a:pPr algn="l" marL="448670" indent="-224335" lvl="1">
              <a:lnSpc>
                <a:spcPts val="2909"/>
              </a:lnSpc>
              <a:buFont typeface="Arial"/>
              <a:buChar char="•"/>
            </a:pPr>
            <a:r>
              <a:rPr lang="en-US" sz="20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Bar Chart → Sales by Location (3-level drill)</a:t>
            </a:r>
          </a:p>
          <a:p>
            <a:pPr algn="l" marL="448670" indent="-224335" lvl="1">
              <a:lnSpc>
                <a:spcPts val="2909"/>
              </a:lnSpc>
              <a:buFont typeface="Arial"/>
              <a:buChar char="•"/>
            </a:pPr>
            <a:r>
              <a:rPr lang="en-US" sz="20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Line Chart → Sales by Year (3-level drill)</a:t>
            </a:r>
          </a:p>
          <a:p>
            <a:pPr algn="l" marL="448670" indent="-224335" lvl="1">
              <a:lnSpc>
                <a:spcPts val="2909"/>
              </a:lnSpc>
              <a:buFont typeface="Arial"/>
              <a:buChar char="•"/>
            </a:pPr>
            <a:r>
              <a:rPr lang="en-US" sz="20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Drill-Through Report Page → Detail per kategori atau per lokasi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65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8673" y="207727"/>
            <a:ext cx="16030653" cy="10079273"/>
          </a:xfrm>
          <a:custGeom>
            <a:avLst/>
            <a:gdLst/>
            <a:ahLst/>
            <a:cxnLst/>
            <a:rect r="r" b="b" t="t" l="l"/>
            <a:pathLst>
              <a:path h="10079273" w="16030653">
                <a:moveTo>
                  <a:pt x="0" y="0"/>
                </a:moveTo>
                <a:lnTo>
                  <a:pt x="16030654" y="0"/>
                </a:lnTo>
                <a:lnTo>
                  <a:pt x="16030654" y="10079273"/>
                </a:lnTo>
                <a:lnTo>
                  <a:pt x="0" y="100792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463779" y="936398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02720" y="767899"/>
            <a:ext cx="14482560" cy="8490401"/>
          </a:xfrm>
          <a:custGeom>
            <a:avLst/>
            <a:gdLst/>
            <a:ahLst/>
            <a:cxnLst/>
            <a:rect r="r" b="b" t="t" l="l"/>
            <a:pathLst>
              <a:path h="8490401" w="14482560">
                <a:moveTo>
                  <a:pt x="0" y="0"/>
                </a:moveTo>
                <a:lnTo>
                  <a:pt x="14482560" y="0"/>
                </a:lnTo>
                <a:lnTo>
                  <a:pt x="14482560" y="8490401"/>
                </a:lnTo>
                <a:lnTo>
                  <a:pt x="0" y="84904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463779" y="936398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5820" y="671386"/>
            <a:ext cx="14876055" cy="8944228"/>
          </a:xfrm>
          <a:custGeom>
            <a:avLst/>
            <a:gdLst/>
            <a:ahLst/>
            <a:cxnLst/>
            <a:rect r="r" b="b" t="t" l="l"/>
            <a:pathLst>
              <a:path h="8944228" w="14876055">
                <a:moveTo>
                  <a:pt x="0" y="0"/>
                </a:moveTo>
                <a:lnTo>
                  <a:pt x="14876055" y="0"/>
                </a:lnTo>
                <a:lnTo>
                  <a:pt x="14876055" y="8944228"/>
                </a:lnTo>
                <a:lnTo>
                  <a:pt x="0" y="89442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463779" y="936398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794" y="476781"/>
            <a:ext cx="15334413" cy="9085640"/>
          </a:xfrm>
          <a:custGeom>
            <a:avLst/>
            <a:gdLst/>
            <a:ahLst/>
            <a:cxnLst/>
            <a:rect r="r" b="b" t="t" l="l"/>
            <a:pathLst>
              <a:path h="9085640" w="15334413">
                <a:moveTo>
                  <a:pt x="0" y="0"/>
                </a:moveTo>
                <a:lnTo>
                  <a:pt x="15334412" y="0"/>
                </a:lnTo>
                <a:lnTo>
                  <a:pt x="15334412" y="9085639"/>
                </a:lnTo>
                <a:lnTo>
                  <a:pt x="0" y="90856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463779" y="936398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7942980" cy="41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  <a:spcBef>
                <a:spcPct val="0"/>
              </a:spcBef>
            </a:pPr>
            <a:r>
              <a:rPr lang="en-US" sz="2341" spc="2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Business Intelligence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8868754"/>
            <a:ext cx="7325430" cy="38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  <a:spcBef>
                <a:spcPct val="0"/>
              </a:spcBef>
            </a:pPr>
            <a:r>
              <a:rPr lang="en-US" sz="2159" spc="1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Najma Khonsa Tsabita 1232002090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5900" y="4596722"/>
            <a:ext cx="16456199" cy="132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10000" b="true">
                <a:gradFill>
                  <a:gsLst>
                    <a:gs pos="0">
                      <a:srgbClr val="FFF46D">
                        <a:alpha val="100000"/>
                      </a:srgbClr>
                    </a:gs>
                    <a:gs pos="100000">
                      <a:srgbClr val="2D98E6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DAG5sYTv4Ho</dc:identifier>
  <dcterms:modified xsi:type="dcterms:W3CDTF">2011-08-01T06:04:30Z</dcterms:modified>
  <cp:revision>1</cp:revision>
  <dc:title>Task 9 BI</dc:title>
</cp:coreProperties>
</file>